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3" r:id="rId5"/>
    <p:sldId id="267" r:id="rId6"/>
    <p:sldId id="268" r:id="rId7"/>
    <p:sldId id="269" r:id="rId8"/>
    <p:sldId id="271" r:id="rId9"/>
    <p:sldId id="264" r:id="rId10"/>
    <p:sldId id="262" r:id="rId11"/>
    <p:sldId id="274" r:id="rId12"/>
    <p:sldId id="275" r:id="rId13"/>
    <p:sldId id="27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p:scale>
          <a:sx n="75" d="100"/>
          <a:sy n="75" d="100"/>
        </p:scale>
        <p:origin x="-123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7/11/2020</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7/11/2020</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7/11/2020</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7/11/2020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7/11/2020</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7/11/2020</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Partial Differential Equations</a:t>
            </a:r>
            <a:endParaRPr lang="en-US" dirty="0"/>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239000" cy="1143000"/>
          </a:xfrm>
        </p:spPr>
        <p:txBody>
          <a:bodyPr/>
          <a:lstStyle/>
          <a:p>
            <a:r>
              <a:rPr lang="en-US" dirty="0" smtClean="0"/>
              <a:t>Introduction</a:t>
            </a:r>
            <a:endParaRPr lang="en-US" dirty="0"/>
          </a:p>
        </p:txBody>
      </p:sp>
      <p:sp>
        <p:nvSpPr>
          <p:cNvPr id="3" name="Content Placeholder 2"/>
          <p:cNvSpPr>
            <a:spLocks noGrp="1"/>
          </p:cNvSpPr>
          <p:nvPr>
            <p:ph idx="1"/>
          </p:nvPr>
        </p:nvSpPr>
        <p:spPr>
          <a:xfrm>
            <a:off x="457200" y="1447800"/>
            <a:ext cx="4572000" cy="5007936"/>
          </a:xfrm>
        </p:spPr>
        <p:txBody>
          <a:bodyPr>
            <a:normAutofit fontScale="77500" lnSpcReduction="20000"/>
          </a:bodyPr>
          <a:lstStyle/>
          <a:p>
            <a:pPr algn="just">
              <a:buNone/>
            </a:pPr>
            <a:r>
              <a:rPr lang="en-US" b="1" dirty="0" smtClean="0"/>
              <a:t>Ordinary differential equation:</a:t>
            </a:r>
          </a:p>
          <a:p>
            <a:pPr algn="just">
              <a:buNone/>
            </a:pPr>
            <a:r>
              <a:rPr lang="en-US" dirty="0" smtClean="0"/>
              <a:t>		                   In any physical </a:t>
            </a:r>
          </a:p>
          <a:p>
            <a:pPr algn="just">
              <a:buNone/>
            </a:pPr>
            <a:r>
              <a:rPr lang="en-US" dirty="0" smtClean="0"/>
              <a:t>    phenomenon, if there is one independent variable upon which the dependent variable depends. It may generate an ordinary differential equation. </a:t>
            </a:r>
          </a:p>
          <a:p>
            <a:pPr algn="just">
              <a:buNone/>
            </a:pPr>
            <a:r>
              <a:rPr lang="en-US" dirty="0" smtClean="0"/>
              <a:t>   For example, in a </a:t>
            </a:r>
            <a:r>
              <a:rPr lang="en-US" dirty="0" smtClean="0">
                <a:solidFill>
                  <a:schemeClr val="tx2"/>
                </a:solidFill>
              </a:rPr>
              <a:t>mass spring System</a:t>
            </a:r>
            <a:r>
              <a:rPr lang="en-US" dirty="0" smtClean="0"/>
              <a:t>, the motion of the spring results the following differential equation </a:t>
            </a:r>
          </a:p>
          <a:p>
            <a:pPr algn="ctr">
              <a:buNone/>
            </a:pPr>
            <a:endParaRPr lang="en-US" dirty="0" smtClean="0"/>
          </a:p>
          <a:p>
            <a:pPr algn="ctr">
              <a:buNone/>
            </a:pPr>
            <a:r>
              <a:rPr lang="en-US" dirty="0" smtClean="0"/>
              <a:t>                      (undamped   system)</a:t>
            </a:r>
          </a:p>
          <a:p>
            <a:pPr algn="ctr">
              <a:buNone/>
            </a:pPr>
            <a:endParaRPr lang="en-US" dirty="0" smtClean="0"/>
          </a:p>
          <a:p>
            <a:pPr>
              <a:buNone/>
            </a:pPr>
            <a:r>
              <a:rPr lang="en-US" dirty="0" smtClean="0"/>
              <a:t>which is an ordinary differential equation of second order.</a:t>
            </a:r>
            <a:endParaRPr lang="en-US" dirty="0"/>
          </a:p>
        </p:txBody>
      </p:sp>
      <p:sp>
        <p:nvSpPr>
          <p:cNvPr id="7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292" name="Picture 4"/>
          <p:cNvPicPr>
            <a:picLocks noChangeAspect="1" noChangeArrowheads="1"/>
          </p:cNvPicPr>
          <p:nvPr/>
        </p:nvPicPr>
        <p:blipFill>
          <a:blip r:embed="rId2"/>
          <a:srcRect/>
          <a:stretch>
            <a:fillRect/>
          </a:stretch>
        </p:blipFill>
        <p:spPr bwMode="auto">
          <a:xfrm>
            <a:off x="5105400" y="2105025"/>
            <a:ext cx="3000375" cy="2647950"/>
          </a:xfrm>
          <a:prstGeom prst="rect">
            <a:avLst/>
          </a:prstGeom>
          <a:noFill/>
          <a:ln w="9525">
            <a:noFill/>
            <a:miter lim="800000"/>
            <a:headEnd/>
            <a:tailEnd/>
          </a:ln>
          <a:effectLst/>
        </p:spPr>
      </p:pic>
      <p:sp>
        <p:nvSpPr>
          <p:cNvPr id="12" name="TextBox 11"/>
          <p:cNvSpPr txBox="1"/>
          <p:nvPr/>
        </p:nvSpPr>
        <p:spPr>
          <a:xfrm>
            <a:off x="6324600" y="3429000"/>
            <a:ext cx="304800" cy="369332"/>
          </a:xfrm>
          <a:prstGeom prst="rect">
            <a:avLst/>
          </a:prstGeom>
          <a:noFill/>
        </p:spPr>
        <p:txBody>
          <a:bodyPr wrap="square" rtlCol="0">
            <a:spAutoFit/>
          </a:bodyPr>
          <a:lstStyle/>
          <a:p>
            <a:r>
              <a:rPr lang="en-US" dirty="0" smtClean="0"/>
              <a:t>y</a:t>
            </a:r>
            <a:endParaRPr lang="en-US" dirty="0"/>
          </a:p>
        </p:txBody>
      </p:sp>
      <p:sp>
        <p:nvSpPr>
          <p:cNvPr id="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762000" y="4591906"/>
            <a:ext cx="1381125" cy="589694"/>
          </a:xfrm>
          <a:prstGeom prst="rect">
            <a:avLst/>
          </a:prstGeom>
          <a:noFill/>
        </p:spPr>
      </p:pic>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7239000" cy="5562600"/>
          </a:xfrm>
        </p:spPr>
        <p:txBody>
          <a:bodyPr/>
          <a:lstStyle/>
          <a:p>
            <a:pPr algn="just">
              <a:buNone/>
            </a:pPr>
            <a:r>
              <a:rPr lang="en-US" sz="2800" b="1" dirty="0" smtClean="0"/>
              <a:t>Partial differential equation:</a:t>
            </a:r>
          </a:p>
          <a:p>
            <a:pPr algn="just">
              <a:buNone/>
            </a:pPr>
            <a:r>
              <a:rPr lang="en-US" sz="2800" dirty="0" smtClean="0"/>
              <a:t>		</a:t>
            </a:r>
          </a:p>
          <a:p>
            <a:pPr algn="just">
              <a:buNone/>
            </a:pPr>
            <a:r>
              <a:rPr lang="en-US" sz="2800" dirty="0" smtClean="0"/>
              <a:t>When the </a:t>
            </a:r>
            <a:r>
              <a:rPr lang="en-US" sz="2800" dirty="0" smtClean="0">
                <a:solidFill>
                  <a:schemeClr val="accent5">
                    <a:lumMod val="75000"/>
                  </a:schemeClr>
                </a:solidFill>
              </a:rPr>
              <a:t>dependent variable depends upon two or more than two independent variables then partial differential equations may occur</a:t>
            </a:r>
            <a:r>
              <a:rPr lang="en-US" sz="2800" dirty="0" smtClean="0"/>
              <a:t>. Partial differential equations arise in geometry, physics, applied mathematics, life sciences, physical chemistry and engineering also.</a:t>
            </a:r>
          </a:p>
          <a:p>
            <a:pPr algn="just">
              <a:buNone/>
            </a:pPr>
            <a:endParaRPr lang="en-US" dirty="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239000" cy="1143000"/>
          </a:xfrm>
        </p:spPr>
        <p:txBody>
          <a:bodyPr/>
          <a:lstStyle/>
          <a:p>
            <a:r>
              <a:rPr lang="en-US" dirty="0" smtClean="0"/>
              <a:t>Definition</a:t>
            </a:r>
            <a:endParaRPr lang="en-US" dirty="0"/>
          </a:p>
        </p:txBody>
      </p:sp>
      <p:sp>
        <p:nvSpPr>
          <p:cNvPr id="3" name="Content Placeholder 2"/>
          <p:cNvSpPr>
            <a:spLocks noGrp="1"/>
          </p:cNvSpPr>
          <p:nvPr>
            <p:ph idx="1"/>
          </p:nvPr>
        </p:nvSpPr>
        <p:spPr/>
        <p:txBody>
          <a:bodyPr>
            <a:normAutofit/>
          </a:bodyPr>
          <a:lstStyle/>
          <a:p>
            <a:pPr>
              <a:buNone/>
            </a:pPr>
            <a:r>
              <a:rPr lang="en-US" dirty="0" smtClean="0"/>
              <a:t>An equation containing one or more partial derivatives of an unknown function of two or more than two independent variables is known as partial differential equation. </a:t>
            </a:r>
          </a:p>
          <a:p>
            <a:pPr>
              <a:buNone/>
            </a:pPr>
            <a:r>
              <a:rPr lang="en-US" b="1" dirty="0" smtClean="0"/>
              <a:t>Example: </a:t>
            </a:r>
          </a:p>
          <a:p>
            <a:pPr>
              <a:buNone/>
            </a:pPr>
            <a:r>
              <a:rPr lang="en-US" b="1" dirty="0" smtClean="0"/>
              <a:t>1.                         </a:t>
            </a:r>
          </a:p>
          <a:p>
            <a:pPr>
              <a:buNone/>
            </a:pPr>
            <a:endParaRPr lang="en-US" b="1" dirty="0" smtClean="0"/>
          </a:p>
          <a:p>
            <a:pPr>
              <a:buNone/>
            </a:pPr>
            <a:r>
              <a:rPr lang="en-US" b="1" dirty="0" smtClean="0"/>
              <a:t>2.  </a:t>
            </a:r>
          </a:p>
          <a:p>
            <a:pPr>
              <a:buNone/>
            </a:pPr>
            <a:endParaRPr lang="en-US" b="1" dirty="0" smtClean="0"/>
          </a:p>
          <a:p>
            <a:pPr>
              <a:buNone/>
            </a:pPr>
            <a:r>
              <a:rPr lang="en-US" b="1" dirty="0" smtClean="0"/>
              <a:t>3.  </a:t>
            </a:r>
            <a:endParaRPr lang="en-US" b="1"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52600" y="3855172"/>
            <a:ext cx="2743200" cy="640628"/>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447800" y="4684820"/>
            <a:ext cx="3429000" cy="649180"/>
          </a:xfrm>
          <a:prstGeom prst="rect">
            <a:avLst/>
          </a:prstGeom>
          <a:noFill/>
        </p:spPr>
      </p:pic>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905000" y="5601970"/>
            <a:ext cx="990600" cy="627380"/>
          </a:xfrm>
          <a:prstGeom prst="rect">
            <a:avLst/>
          </a:prstGeom>
          <a:noFill/>
        </p:spPr>
      </p:pic>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physical examples of PDE</a:t>
            </a:r>
            <a:endParaRPr lang="en-US" dirty="0"/>
          </a:p>
        </p:txBody>
      </p:sp>
      <p:sp>
        <p:nvSpPr>
          <p:cNvPr id="3" name="Content Placeholder 2"/>
          <p:cNvSpPr>
            <a:spLocks noGrp="1"/>
          </p:cNvSpPr>
          <p:nvPr>
            <p:ph idx="1"/>
          </p:nvPr>
        </p:nvSpPr>
        <p:spPr>
          <a:xfrm>
            <a:off x="457200" y="1600200"/>
            <a:ext cx="4191000" cy="4855536"/>
          </a:xfrm>
        </p:spPr>
        <p:txBody>
          <a:bodyPr>
            <a:normAutofit fontScale="62500" lnSpcReduction="20000"/>
          </a:bodyPr>
          <a:lstStyle/>
          <a:p>
            <a:pPr>
              <a:buNone/>
            </a:pPr>
            <a:endParaRPr lang="en-US" dirty="0" smtClean="0"/>
          </a:p>
          <a:p>
            <a:pPr marL="514350" indent="-514350" algn="just">
              <a:buAutoNum type="arabicPeriod"/>
            </a:pPr>
            <a:r>
              <a:rPr lang="en-US" sz="3200" b="1" dirty="0" smtClean="0">
                <a:solidFill>
                  <a:schemeClr val="accent4">
                    <a:lumMod val="75000"/>
                  </a:schemeClr>
                </a:solidFill>
              </a:rPr>
              <a:t>HEAT EQUATION: </a:t>
            </a:r>
          </a:p>
          <a:p>
            <a:pPr marL="514350" indent="-514350" algn="just">
              <a:buNone/>
            </a:pPr>
            <a:r>
              <a:rPr lang="en-US" sz="3200" dirty="0" smtClean="0"/>
              <a:t>Consider heat conduction in a homogeneous rod of length </a:t>
            </a:r>
            <a:r>
              <a:rPr lang="en-US" sz="3200" i="1" dirty="0" smtClean="0"/>
              <a:t>L, a</a:t>
            </a:r>
            <a:r>
              <a:rPr lang="en-US" sz="3200" dirty="0" smtClean="0"/>
              <a:t>ssume that the rod has constant density and uniform cross section A. Also assume that the lateral surface of the rod  is insulated. Therefore heat flows only in one direction say x. The rod is sufficiently thin so that the temperature is same at all points of any cross sectional area of the rod. Let u(x, t) be the temperature of the cross section at the point x and at any time t. Then</a:t>
            </a:r>
            <a:endParaRPr lang="en-US" dirty="0"/>
          </a:p>
        </p:txBody>
      </p:sp>
      <p:pic>
        <p:nvPicPr>
          <p:cNvPr id="4" name="Picture 6" descr="https://services.math.duke.edu/education/ccp/materials/engin/pdeintro/rod.gif"/>
          <p:cNvPicPr>
            <a:picLocks noChangeAspect="1" noChangeArrowheads="1"/>
          </p:cNvPicPr>
          <p:nvPr/>
        </p:nvPicPr>
        <p:blipFill>
          <a:blip r:embed="rId2"/>
          <a:srcRect/>
          <a:stretch>
            <a:fillRect/>
          </a:stretch>
        </p:blipFill>
        <p:spPr bwMode="auto">
          <a:xfrm>
            <a:off x="4876800" y="3429000"/>
            <a:ext cx="2895600" cy="1206500"/>
          </a:xfrm>
          <a:prstGeom prst="rect">
            <a:avLst/>
          </a:prstGeom>
          <a:noFill/>
        </p:spPr>
      </p:pic>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7239000" cy="5693736"/>
          </a:xfrm>
        </p:spPr>
        <p:txBody>
          <a:bodyPr>
            <a:normAutofit/>
          </a:bodyPr>
          <a:lstStyle/>
          <a:p>
            <a:pPr>
              <a:buNone/>
            </a:pPr>
            <a:endParaRPr lang="en-US" dirty="0" smtClean="0"/>
          </a:p>
          <a:p>
            <a:pPr>
              <a:buNone/>
            </a:pPr>
            <a:endParaRPr lang="en-US" dirty="0" smtClean="0"/>
          </a:p>
          <a:p>
            <a:pPr>
              <a:buNone/>
            </a:pPr>
            <a:r>
              <a:rPr lang="en-US" dirty="0" smtClean="0"/>
              <a:t>This phenomenon can be modeled mathematically as</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This  is a partial differential equation and is known as heat equation. </a:t>
            </a:r>
          </a:p>
        </p:txBody>
      </p:sp>
      <p:sp>
        <p:nvSpPr>
          <p:cNvPr id="6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14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133599" y="2743200"/>
            <a:ext cx="3573379" cy="1676400"/>
          </a:xfrm>
          <a:prstGeom prst="rect">
            <a:avLst/>
          </a:prstGeom>
          <a:noFill/>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Wave equation</a:t>
            </a:r>
            <a:endParaRPr lang="en-US" dirty="0"/>
          </a:p>
        </p:txBody>
      </p:sp>
      <p:sp>
        <p:nvSpPr>
          <p:cNvPr id="3" name="Content Placeholder 2"/>
          <p:cNvSpPr>
            <a:spLocks noGrp="1"/>
          </p:cNvSpPr>
          <p:nvPr>
            <p:ph idx="1"/>
          </p:nvPr>
        </p:nvSpPr>
        <p:spPr>
          <a:xfrm>
            <a:off x="457200" y="1609416"/>
            <a:ext cx="4343400" cy="4846320"/>
          </a:xfrm>
        </p:spPr>
        <p:txBody>
          <a:bodyPr>
            <a:noAutofit/>
          </a:bodyPr>
          <a:lstStyle/>
          <a:p>
            <a:pPr algn="just">
              <a:buNone/>
            </a:pPr>
            <a:r>
              <a:rPr lang="en-US" sz="2000" dirty="0" smtClean="0"/>
              <a:t>One – dimensional wave equation arises in the study of transverse vibration of an elastic string. Consider an elastic string, stretched to its length L with its two ends. Density of the string is constant. Let </a:t>
            </a:r>
            <a:r>
              <a:rPr lang="en-US" sz="2000" dirty="0" smtClean="0"/>
              <a:t>y(x</a:t>
            </a:r>
            <a:r>
              <a:rPr lang="en-US" sz="2000" dirty="0" smtClean="0"/>
              <a:t>, t) be the deflection of string at any point x and at any time t &gt; 0  from the equilibrium position. When the string is distorted, then it vibrates.</a:t>
            </a:r>
            <a:endParaRPr lang="en-US" sz="2000" dirty="0"/>
          </a:p>
        </p:txBody>
      </p:sp>
      <p:sp>
        <p:nvSpPr>
          <p:cNvPr id="6" name="TextBox 5"/>
          <p:cNvSpPr txBox="1"/>
          <p:nvPr/>
        </p:nvSpPr>
        <p:spPr>
          <a:xfrm>
            <a:off x="5029200" y="1981200"/>
            <a:ext cx="2386907" cy="3139321"/>
          </a:xfrm>
          <a:prstGeom prst="rect">
            <a:avLst/>
          </a:prstGeom>
          <a:noFill/>
        </p:spPr>
        <p:txBody>
          <a:bodyPr wrap="square" rtlCol="0">
            <a:spAutoFit/>
          </a:bodyPr>
          <a:lstStyle/>
          <a:p>
            <a:r>
              <a:rPr lang="en-US" dirty="0" smtClean="0"/>
              <a:t>          </a:t>
            </a:r>
          </a:p>
          <a:p>
            <a:endParaRPr lang="en-US" dirty="0" smtClean="0"/>
          </a:p>
          <a:p>
            <a:endParaRPr lang="en-US" dirty="0" smtClean="0"/>
          </a:p>
          <a:p>
            <a:endParaRPr lang="en-US" dirty="0" smtClean="0"/>
          </a:p>
          <a:p>
            <a:endParaRPr lang="en-US" dirty="0" smtClean="0"/>
          </a:p>
          <a:p>
            <a:endParaRPr lang="en-US" dirty="0" smtClean="0"/>
          </a:p>
          <a:p>
            <a:r>
              <a:rPr lang="en-US" dirty="0" smtClean="0"/>
              <a:t>                      </a:t>
            </a:r>
          </a:p>
          <a:p>
            <a:endParaRPr lang="en-US" dirty="0" smtClean="0"/>
          </a:p>
          <a:p>
            <a:endParaRPr lang="en-US" dirty="0" smtClean="0"/>
          </a:p>
          <a:p>
            <a:endParaRPr lang="en-US" dirty="0" smtClean="0"/>
          </a:p>
          <a:p>
            <a:endParaRPr lang="en-US" dirty="0"/>
          </a:p>
        </p:txBody>
      </p:sp>
      <p:pic>
        <p:nvPicPr>
          <p:cNvPr id="7" name="Picture 1"/>
          <p:cNvPicPr>
            <a:picLocks noChangeAspect="1" noChangeArrowheads="1"/>
          </p:cNvPicPr>
          <p:nvPr/>
        </p:nvPicPr>
        <p:blipFill>
          <a:blip r:embed="rId2"/>
          <a:srcRect/>
          <a:stretch>
            <a:fillRect/>
          </a:stretch>
        </p:blipFill>
        <p:spPr bwMode="auto">
          <a:xfrm>
            <a:off x="5314950" y="2667000"/>
            <a:ext cx="2533650" cy="1533525"/>
          </a:xfrm>
          <a:prstGeom prst="rect">
            <a:avLst/>
          </a:prstGeom>
          <a:noFill/>
          <a:ln w="9525">
            <a:noFill/>
            <a:miter lim="800000"/>
            <a:headEnd/>
            <a:tailEnd/>
          </a:ln>
          <a:effectLst/>
        </p:spPr>
      </p:pic>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914400"/>
            <a:ext cx="7239000" cy="4846320"/>
          </a:xfrm>
        </p:spPr>
        <p:txBody>
          <a:bodyPr/>
          <a:lstStyle/>
          <a:p>
            <a:pPr>
              <a:buNone/>
            </a:pPr>
            <a:r>
              <a:rPr lang="en-US" dirty="0" smtClean="0"/>
              <a:t>The transverse vibrations of such a vibrating string are mathematically modeled by one dimensional wave equation as follows:</a:t>
            </a:r>
          </a:p>
          <a:p>
            <a:pPr>
              <a:buNone/>
            </a:pPr>
            <a:endParaRPr lang="en-US" dirty="0" smtClean="0"/>
          </a:p>
          <a:p>
            <a:pPr>
              <a:buNone/>
            </a:pPr>
            <a:endParaRPr lang="en-US" dirty="0" smtClean="0"/>
          </a:p>
          <a:p>
            <a:pPr>
              <a:buNone/>
            </a:pPr>
            <a:endParaRPr lang="en-US" dirty="0" smtClean="0"/>
          </a:p>
          <a:p>
            <a:pPr>
              <a:buNone/>
            </a:pPr>
            <a:r>
              <a:rPr lang="en-US" dirty="0" smtClean="0"/>
              <a:t> </a:t>
            </a:r>
          </a:p>
          <a:p>
            <a:pPr>
              <a:buNone/>
            </a:pPr>
            <a:r>
              <a:rPr lang="en-US" dirty="0" smtClean="0"/>
              <a:t>this is also a partial differential equation.</a:t>
            </a:r>
            <a:endParaRPr lang="en-US" dirty="0"/>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614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228975" y="2684257"/>
            <a:ext cx="1495425" cy="668543"/>
          </a:xfrm>
          <a:prstGeom prst="rect">
            <a:avLst/>
          </a:prstGeom>
          <a:noFill/>
        </p:spPr>
      </p:pic>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Order of partial differential equation </a:t>
            </a:r>
            <a:endParaRPr lang="en-US" sz="2800" dirty="0"/>
          </a:p>
        </p:txBody>
      </p:sp>
      <p:sp>
        <p:nvSpPr>
          <p:cNvPr id="3" name="Content Placeholder 2"/>
          <p:cNvSpPr>
            <a:spLocks noGrp="1"/>
          </p:cNvSpPr>
          <p:nvPr>
            <p:ph idx="1"/>
          </p:nvPr>
        </p:nvSpPr>
        <p:spPr>
          <a:xfrm>
            <a:off x="457200" y="1609416"/>
            <a:ext cx="7467600" cy="4846320"/>
          </a:xfrm>
        </p:spPr>
        <p:txBody>
          <a:bodyPr/>
          <a:lstStyle/>
          <a:p>
            <a:pPr algn="just">
              <a:buNone/>
            </a:pPr>
            <a:r>
              <a:rPr lang="en-US" dirty="0" smtClean="0"/>
              <a:t>The order of the partial differential equation is defined as the order of the highest  partial derivative occurring in the partial differential equation</a:t>
            </a:r>
          </a:p>
          <a:p>
            <a:pPr algn="just">
              <a:buNone/>
            </a:pPr>
            <a:r>
              <a:rPr lang="en-US" dirty="0" smtClean="0"/>
              <a:t>Example: Find the order of the following PDE  </a:t>
            </a:r>
          </a:p>
          <a:p>
            <a:pPr algn="just">
              <a:buNone/>
            </a:pPr>
            <a:r>
              <a:rPr lang="en-US" dirty="0" smtClean="0"/>
              <a:t>1.                          Ans. 2</a:t>
            </a:r>
          </a:p>
          <a:p>
            <a:pPr algn="just">
              <a:buNone/>
            </a:pPr>
            <a:endParaRPr lang="en-US" dirty="0" smtClean="0"/>
          </a:p>
          <a:p>
            <a:pPr algn="just">
              <a:buNone/>
            </a:pPr>
            <a:r>
              <a:rPr lang="en-US" dirty="0" smtClean="0"/>
              <a:t>2.                              </a:t>
            </a:r>
            <a:r>
              <a:rPr lang="en-US" dirty="0" err="1" smtClean="0"/>
              <a:t>Ans</a:t>
            </a:r>
            <a:r>
              <a:rPr lang="en-US" dirty="0" smtClean="0"/>
              <a:t>: 1</a:t>
            </a:r>
          </a:p>
        </p:txBody>
      </p:sp>
      <p:sp>
        <p:nvSpPr>
          <p:cNvPr id="2457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58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457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295400" y="3761377"/>
            <a:ext cx="1676400" cy="734423"/>
          </a:xfrm>
          <a:prstGeom prst="rect">
            <a:avLst/>
          </a:prstGeom>
          <a:noFill/>
        </p:spPr>
      </p:pic>
      <p:sp>
        <p:nvSpPr>
          <p:cNvPr id="2458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4581"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447799" y="4876800"/>
            <a:ext cx="2115527" cy="676275"/>
          </a:xfrm>
          <a:prstGeom prst="rect">
            <a:avLst/>
          </a:prstGeom>
          <a:noFill/>
        </p:spPr>
      </p:pic>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t>Degree of the partial differential equation </a:t>
            </a:r>
            <a:endParaRPr lang="en-US" sz="2800" dirty="0"/>
          </a:p>
        </p:txBody>
      </p:sp>
      <p:sp>
        <p:nvSpPr>
          <p:cNvPr id="3" name="Content Placeholder 2"/>
          <p:cNvSpPr>
            <a:spLocks noGrp="1"/>
          </p:cNvSpPr>
          <p:nvPr>
            <p:ph idx="1"/>
          </p:nvPr>
        </p:nvSpPr>
        <p:spPr/>
        <p:txBody>
          <a:bodyPr/>
          <a:lstStyle/>
          <a:p>
            <a:pPr>
              <a:buNone/>
            </a:pPr>
            <a:r>
              <a:rPr lang="en-US" dirty="0" smtClean="0"/>
              <a:t>The degree of a partial differential equation is the degree of the higher order partial derivative which occurs in it after the equation has been rationalised.</a:t>
            </a:r>
          </a:p>
          <a:p>
            <a:pPr>
              <a:buNone/>
            </a:pPr>
            <a:r>
              <a:rPr lang="en-US" b="1" dirty="0" smtClean="0"/>
              <a:t>Example: </a:t>
            </a:r>
            <a:r>
              <a:rPr lang="en-US" dirty="0" smtClean="0"/>
              <a:t>Find the degree of the following PDE</a:t>
            </a:r>
          </a:p>
          <a:p>
            <a:pPr>
              <a:buNone/>
            </a:pPr>
            <a:endParaRPr lang="en-US" dirty="0" smtClean="0"/>
          </a:p>
          <a:p>
            <a:pPr>
              <a:buNone/>
            </a:pPr>
            <a:r>
              <a:rPr lang="en-US" dirty="0" smtClean="0"/>
              <a:t>1.                           </a:t>
            </a:r>
            <a:r>
              <a:rPr lang="en-US" dirty="0" err="1" smtClean="0"/>
              <a:t>Ans</a:t>
            </a:r>
            <a:r>
              <a:rPr lang="en-US" dirty="0" smtClean="0"/>
              <a:t>: 1</a:t>
            </a:r>
          </a:p>
          <a:p>
            <a:pPr>
              <a:buNone/>
            </a:pPr>
            <a:endParaRPr lang="en-US" dirty="0" smtClean="0"/>
          </a:p>
          <a:p>
            <a:pPr>
              <a:buNone/>
            </a:pPr>
            <a:r>
              <a:rPr lang="en-US" dirty="0" smtClean="0"/>
              <a:t>2.                            </a:t>
            </a:r>
            <a:r>
              <a:rPr lang="en-US" dirty="0" err="1" smtClean="0"/>
              <a:t>Ans</a:t>
            </a:r>
            <a:r>
              <a:rPr lang="en-US" dirty="0" smtClean="0"/>
              <a:t>: 2</a:t>
            </a:r>
            <a:endParaRPr lang="en-US" b="1" dirty="0"/>
          </a:p>
        </p:txBody>
      </p:sp>
      <p:pic>
        <p:nvPicPr>
          <p:cNvPr id="4"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52600" y="4083772"/>
            <a:ext cx="2743200" cy="640628"/>
          </a:xfrm>
          <a:prstGeom prst="rect">
            <a:avLst/>
          </a:prstGeom>
          <a:noFill/>
        </p:spPr>
      </p:pic>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447800" y="4996576"/>
            <a:ext cx="1981200" cy="670800"/>
          </a:xfrm>
          <a:prstGeom prst="rect">
            <a:avLst/>
          </a:prstGeom>
          <a:noFill/>
        </p:spPr>
      </p:pic>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Linear pde and non linear pde</a:t>
            </a:r>
            <a:endParaRPr lang="en-US" dirty="0"/>
          </a:p>
        </p:txBody>
      </p:sp>
      <p:sp>
        <p:nvSpPr>
          <p:cNvPr id="3" name="Content Placeholder 2"/>
          <p:cNvSpPr>
            <a:spLocks noGrp="1"/>
          </p:cNvSpPr>
          <p:nvPr>
            <p:ph idx="1"/>
          </p:nvPr>
        </p:nvSpPr>
        <p:spPr/>
        <p:txBody>
          <a:bodyPr>
            <a:normAutofit lnSpcReduction="10000"/>
          </a:bodyPr>
          <a:lstStyle/>
          <a:p>
            <a:pPr algn="just">
              <a:buNone/>
            </a:pPr>
            <a:r>
              <a:rPr lang="en-US" dirty="0" smtClean="0"/>
              <a:t>		An equation is said to be </a:t>
            </a:r>
            <a:r>
              <a:rPr lang="en-US" dirty="0" smtClean="0">
                <a:solidFill>
                  <a:schemeClr val="tx2"/>
                </a:solidFill>
              </a:rPr>
              <a:t>linear</a:t>
            </a:r>
            <a:r>
              <a:rPr lang="en-US" dirty="0" smtClean="0"/>
              <a:t> if dependent variable and its partial derivatives occur in first degree and are not multiplied.</a:t>
            </a:r>
          </a:p>
          <a:p>
            <a:pPr algn="just">
              <a:buNone/>
            </a:pPr>
            <a:r>
              <a:rPr lang="en-US" dirty="0" smtClean="0"/>
              <a:t>		If  equation is not linear then it is </a:t>
            </a:r>
            <a:r>
              <a:rPr lang="en-US" dirty="0" smtClean="0">
                <a:solidFill>
                  <a:schemeClr val="tx2"/>
                </a:solidFill>
              </a:rPr>
              <a:t>non linear.</a:t>
            </a:r>
          </a:p>
          <a:p>
            <a:pPr algn="just">
              <a:buNone/>
            </a:pPr>
            <a:r>
              <a:rPr lang="en-US" dirty="0" smtClean="0"/>
              <a:t>Example: 1.                        linear </a:t>
            </a:r>
          </a:p>
          <a:p>
            <a:pPr algn="just">
              <a:buNone/>
            </a:pPr>
            <a:r>
              <a:rPr lang="en-US" dirty="0" smtClean="0"/>
              <a:t>              </a:t>
            </a:r>
          </a:p>
          <a:p>
            <a:pPr algn="just">
              <a:buNone/>
            </a:pPr>
            <a:r>
              <a:rPr lang="en-US" dirty="0" smtClean="0"/>
              <a:t> 2.                          Non linear</a:t>
            </a:r>
          </a:p>
          <a:p>
            <a:pPr algn="just">
              <a:buNone/>
            </a:pPr>
            <a:r>
              <a:rPr lang="en-US" dirty="0" smtClean="0"/>
              <a:t>               </a:t>
            </a:r>
          </a:p>
          <a:p>
            <a:pPr algn="just">
              <a:buNone/>
            </a:pPr>
            <a:r>
              <a:rPr lang="en-US" dirty="0" smtClean="0"/>
              <a:t>3.                           Non linear</a:t>
            </a:r>
          </a:p>
          <a:p>
            <a:pPr>
              <a:buNone/>
            </a:pPr>
            <a:r>
              <a:rPr lang="en-US" dirty="0" smtClean="0"/>
              <a:t> </a:t>
            </a:r>
            <a:endParaRPr lang="en-US" dirty="0"/>
          </a:p>
        </p:txBody>
      </p:sp>
      <p:sp>
        <p:nvSpPr>
          <p:cNvPr id="2560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5601"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666999" y="3429000"/>
            <a:ext cx="1662545" cy="571500"/>
          </a:xfrm>
          <a:prstGeom prst="rect">
            <a:avLst/>
          </a:prstGeom>
          <a:noFill/>
        </p:spPr>
      </p:pic>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5603"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371600" y="4248607"/>
            <a:ext cx="1676400" cy="590093"/>
          </a:xfrm>
          <a:prstGeom prst="rect">
            <a:avLst/>
          </a:prstGeom>
          <a:noFill/>
        </p:spPr>
      </p:pic>
      <p:sp>
        <p:nvSpPr>
          <p:cNvPr id="2560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5605"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676400" y="5121499"/>
            <a:ext cx="1219200" cy="669701"/>
          </a:xfrm>
          <a:prstGeom prst="rect">
            <a:avLst/>
          </a:prstGeom>
          <a:noFill/>
        </p:spPr>
      </p:pic>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239000" cy="670560"/>
          </a:xfrm>
        </p:spPr>
        <p:txBody>
          <a:bodyPr/>
          <a:lstStyle/>
          <a:p>
            <a:r>
              <a:rPr lang="en-US" dirty="0" smtClean="0"/>
              <a:t>Semi linear and quasi linear</a:t>
            </a:r>
            <a:endParaRPr lang="en-US" dirty="0"/>
          </a:p>
        </p:txBody>
      </p:sp>
      <p:sp>
        <p:nvSpPr>
          <p:cNvPr id="3" name="Content Placeholder 2"/>
          <p:cNvSpPr>
            <a:spLocks noGrp="1"/>
          </p:cNvSpPr>
          <p:nvPr>
            <p:ph idx="1"/>
          </p:nvPr>
        </p:nvSpPr>
        <p:spPr>
          <a:xfrm>
            <a:off x="457200" y="838200"/>
            <a:ext cx="7239000" cy="5867400"/>
          </a:xfrm>
        </p:spPr>
        <p:txBody>
          <a:bodyPr>
            <a:normAutofit/>
          </a:bodyPr>
          <a:lstStyle/>
          <a:p>
            <a:pPr>
              <a:buNone/>
            </a:pPr>
            <a:r>
              <a:rPr lang="en-US" dirty="0" smtClean="0"/>
              <a:t>If we consider the first order PDE then these concepts are also defined. </a:t>
            </a:r>
          </a:p>
          <a:p>
            <a:pPr>
              <a:buNone/>
            </a:pPr>
            <a:r>
              <a:rPr lang="en-US" dirty="0" smtClean="0"/>
              <a:t>		An equation of the form </a:t>
            </a:r>
          </a:p>
          <a:p>
            <a:pPr>
              <a:buNone/>
            </a:pPr>
            <a:r>
              <a:rPr lang="en-US" dirty="0" smtClean="0"/>
              <a:t>		P(x, y) </a:t>
            </a:r>
            <a:r>
              <a:rPr lang="en-US" i="1" dirty="0" smtClean="0"/>
              <a:t>p + Q(x, y) q = R(x, y, z) </a:t>
            </a:r>
            <a:r>
              <a:rPr lang="en-US" dirty="0" smtClean="0"/>
              <a:t>is called </a:t>
            </a:r>
            <a:r>
              <a:rPr lang="en-US" i="1" dirty="0" smtClean="0"/>
              <a:t> </a:t>
            </a:r>
            <a:r>
              <a:rPr lang="en-US" dirty="0" smtClean="0">
                <a:solidFill>
                  <a:schemeClr val="accent1"/>
                </a:solidFill>
              </a:rPr>
              <a:t>semi linear PDE.</a:t>
            </a:r>
          </a:p>
          <a:p>
            <a:pPr>
              <a:buNone/>
            </a:pPr>
            <a:r>
              <a:rPr lang="en-US" b="1" dirty="0" smtClean="0"/>
              <a:t>Example:</a:t>
            </a:r>
            <a:r>
              <a:rPr lang="en-US" dirty="0" smtClean="0"/>
              <a:t> xy </a:t>
            </a:r>
            <a:r>
              <a:rPr lang="en-US" i="1" dirty="0" smtClean="0"/>
              <a:t>p +  </a:t>
            </a:r>
            <a:r>
              <a:rPr lang="en-US" i="1" dirty="0" smtClean="0"/>
              <a:t>yx</a:t>
            </a:r>
            <a:r>
              <a:rPr lang="en-US" i="1" baseline="30000" dirty="0" smtClean="0"/>
              <a:t>2</a:t>
            </a:r>
            <a:r>
              <a:rPr lang="en-US" i="1" dirty="0" smtClean="0"/>
              <a:t> </a:t>
            </a:r>
            <a:r>
              <a:rPr lang="en-US" i="1" dirty="0" smtClean="0"/>
              <a:t>q = x z</a:t>
            </a:r>
            <a:r>
              <a:rPr lang="en-US" i="1" baseline="30000" dirty="0" smtClean="0"/>
              <a:t>2</a:t>
            </a:r>
          </a:p>
          <a:p>
            <a:pPr>
              <a:buNone/>
            </a:pPr>
            <a:r>
              <a:rPr lang="en-US" dirty="0" smtClean="0"/>
              <a:t>		An equation of the form </a:t>
            </a:r>
          </a:p>
          <a:p>
            <a:pPr>
              <a:buNone/>
            </a:pPr>
            <a:r>
              <a:rPr lang="en-US" dirty="0" smtClean="0"/>
              <a:t>         P(x, y, z) </a:t>
            </a:r>
            <a:r>
              <a:rPr lang="en-US" i="1" dirty="0" smtClean="0"/>
              <a:t>p + Q(x, y, z) q = R(x, y, z) </a:t>
            </a:r>
            <a:r>
              <a:rPr lang="en-US" dirty="0" smtClean="0"/>
              <a:t>is </a:t>
            </a:r>
            <a:r>
              <a:rPr lang="en-US" dirty="0" smtClean="0">
                <a:solidFill>
                  <a:schemeClr val="tx2"/>
                </a:solidFill>
              </a:rPr>
              <a:t>called quasi linear PDE.</a:t>
            </a:r>
          </a:p>
          <a:p>
            <a:pPr>
              <a:buNone/>
            </a:pPr>
            <a:r>
              <a:rPr lang="en-US" b="1" dirty="0" smtClean="0"/>
              <a:t>Example:</a:t>
            </a:r>
            <a:r>
              <a:rPr lang="en-US" dirty="0" smtClean="0"/>
              <a:t> x</a:t>
            </a:r>
            <a:r>
              <a:rPr lang="en-US" baseline="30000" dirty="0" smtClean="0"/>
              <a:t>2 </a:t>
            </a:r>
            <a:r>
              <a:rPr lang="en-US" dirty="0" smtClean="0"/>
              <a:t> z p + yz q = xy sin z </a:t>
            </a:r>
          </a:p>
          <a:p>
            <a:pPr>
              <a:buNone/>
            </a:pPr>
            <a:r>
              <a:rPr lang="en-US" dirty="0" smtClean="0"/>
              <a:t> Here p=     , q =       Now onwards we will also use                                       </a:t>
            </a:r>
            <a:endParaRPr lang="en-US" dirty="0"/>
          </a:p>
        </p:txBody>
      </p:sp>
      <p:sp>
        <p:nvSpPr>
          <p:cNvPr id="266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05000" y="5334000"/>
            <a:ext cx="339811" cy="628650"/>
          </a:xfrm>
          <a:prstGeom prst="rect">
            <a:avLst/>
          </a:prstGeom>
          <a:noFill/>
        </p:spPr>
      </p:pic>
      <p:sp>
        <p:nvSpPr>
          <p:cNvPr id="266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124200" y="5410200"/>
            <a:ext cx="228600" cy="524435"/>
          </a:xfrm>
          <a:prstGeom prst="rect">
            <a:avLst/>
          </a:prstGeom>
          <a:noFill/>
        </p:spPr>
      </p:pic>
      <p:sp>
        <p:nvSpPr>
          <p:cNvPr id="266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2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847850" y="6052961"/>
            <a:ext cx="819150" cy="576439"/>
          </a:xfrm>
          <a:prstGeom prst="rect">
            <a:avLst/>
          </a:prstGeom>
          <a:noFill/>
        </p:spPr>
      </p:pic>
      <p:sp>
        <p:nvSpPr>
          <p:cNvPr id="266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31"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562475" y="5920079"/>
            <a:ext cx="847725" cy="709321"/>
          </a:xfrm>
          <a:prstGeom prst="rect">
            <a:avLst/>
          </a:prstGeom>
          <a:noFill/>
        </p:spPr>
      </p:pic>
      <p:sp>
        <p:nvSpPr>
          <p:cNvPr id="2663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33" name="Picture 9"/>
          <p:cNvPicPr>
            <a:picLocks noChangeAspect="1" noChangeArrowheads="1"/>
          </p:cNvPicPr>
          <p:nvPr/>
        </p:nvPicPr>
        <p:blipFill>
          <a:blip r:embed="rId6">
            <a:clrChange>
              <a:clrFrom>
                <a:srgbClr val="FFFFFF"/>
              </a:clrFrom>
              <a:clrTo>
                <a:srgbClr val="FFFFFF">
                  <a:alpha val="0"/>
                </a:srgbClr>
              </a:clrTo>
            </a:clrChange>
          </a:blip>
          <a:srcRect/>
          <a:stretch>
            <a:fillRect/>
          </a:stretch>
        </p:blipFill>
        <p:spPr bwMode="auto">
          <a:xfrm>
            <a:off x="3143250" y="6019800"/>
            <a:ext cx="1016000" cy="609600"/>
          </a:xfrm>
          <a:prstGeom prst="rect">
            <a:avLst/>
          </a:prstGeom>
          <a:noFill/>
        </p:spPr>
      </p:pic>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Practice questions</a:t>
            </a:r>
            <a:endParaRPr lang="en-US" dirty="0"/>
          </a:p>
        </p:txBody>
      </p:sp>
      <p:sp>
        <p:nvSpPr>
          <p:cNvPr id="3" name="Content Placeholder 2"/>
          <p:cNvSpPr>
            <a:spLocks noGrp="1"/>
          </p:cNvSpPr>
          <p:nvPr>
            <p:ph idx="1"/>
          </p:nvPr>
        </p:nvSpPr>
        <p:spPr/>
        <p:txBody>
          <a:bodyPr/>
          <a:lstStyle/>
          <a:p>
            <a:pPr>
              <a:buNone/>
            </a:pPr>
            <a:r>
              <a:rPr lang="en-US" dirty="0" smtClean="0"/>
              <a:t>Find the order and degree of the following PDEs</a:t>
            </a:r>
          </a:p>
          <a:p>
            <a:pPr>
              <a:buNone/>
            </a:pPr>
            <a:r>
              <a:rPr lang="en-US" dirty="0" smtClean="0"/>
              <a:t>1.                                       Ans:2, 1</a:t>
            </a:r>
          </a:p>
          <a:p>
            <a:pPr>
              <a:buNone/>
            </a:pPr>
            <a:endParaRPr lang="en-US" dirty="0" smtClean="0"/>
          </a:p>
          <a:p>
            <a:pPr>
              <a:buNone/>
            </a:pPr>
            <a:r>
              <a:rPr lang="en-US" dirty="0" smtClean="0"/>
              <a:t>2.                                      Ans: 1, 3</a:t>
            </a:r>
          </a:p>
          <a:p>
            <a:pPr>
              <a:buNone/>
            </a:pPr>
            <a:r>
              <a:rPr lang="en-US" dirty="0" smtClean="0"/>
              <a:t>Which of the following PDEs is/are linear/ non linear                                       </a:t>
            </a:r>
          </a:p>
          <a:p>
            <a:pPr>
              <a:buNone/>
            </a:pPr>
            <a:r>
              <a:rPr lang="en-US" dirty="0" smtClean="0"/>
              <a:t>3.                                       Ans: non linear </a:t>
            </a:r>
          </a:p>
          <a:p>
            <a:pPr>
              <a:buNone/>
            </a:pPr>
            <a:endParaRPr lang="en-US" dirty="0" smtClean="0"/>
          </a:p>
          <a:p>
            <a:pPr>
              <a:buNone/>
            </a:pPr>
            <a:r>
              <a:rPr lang="en-US" dirty="0" smtClean="0"/>
              <a:t>4.                                       Ans: linear </a:t>
            </a:r>
          </a:p>
          <a:p>
            <a:pPr>
              <a:buNone/>
            </a:pPr>
            <a:endParaRPr lang="en-US"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295400" y="2412167"/>
            <a:ext cx="3102428" cy="712033"/>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524000" y="5700280"/>
            <a:ext cx="1752600" cy="776720"/>
          </a:xfrm>
          <a:prstGeom prst="rect">
            <a:avLst/>
          </a:prstGeom>
          <a:noFill/>
        </p:spPr>
      </p:pic>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524000" y="4670425"/>
            <a:ext cx="2256952" cy="815975"/>
          </a:xfrm>
          <a:prstGeom prst="rect">
            <a:avLst/>
          </a:prstGeom>
          <a:noFill/>
        </p:spPr>
      </p:pic>
      <p:sp>
        <p:nvSpPr>
          <p:cNvPr id="10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1" name="Picture 7"/>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1752600" y="3258337"/>
            <a:ext cx="1981200" cy="704063"/>
          </a:xfrm>
          <a:prstGeom prst="rect">
            <a:avLst/>
          </a:prstGeom>
          <a:noFill/>
        </p:spPr>
      </p:pic>
    </p:spTree>
  </p:cSld>
  <p:clrMapOvr>
    <a:masterClrMapping/>
  </p:clrMapOvr>
  <p:transition spd="slow"/>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576</TotalTime>
  <Words>444</Words>
  <Application>Microsoft Office PowerPoint</Application>
  <PresentationFormat>On-screen Show (4:3)</PresentationFormat>
  <Paragraphs>92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Opulent</vt:lpstr>
      <vt:lpstr>Partial Differential Equations</vt:lpstr>
      <vt:lpstr>Introduction</vt:lpstr>
      <vt:lpstr>Slide 3</vt:lpstr>
      <vt:lpstr>Definition</vt:lpstr>
      <vt:lpstr>Some physical examples of PDE</vt:lpstr>
      <vt:lpstr>Slide 6</vt:lpstr>
      <vt:lpstr>Wave equation</vt:lpstr>
      <vt:lpstr>Slide 8</vt:lpstr>
      <vt:lpstr>Order of partial differential equation </vt:lpstr>
      <vt:lpstr>Degree of the partial differential equation </vt:lpstr>
      <vt:lpstr>Linear pde and non linear pde</vt:lpstr>
      <vt:lpstr>Semi linear and quasi linear</vt:lpstr>
      <vt:lpstr>Practice questions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188</cp:revision>
  <dcterms:created xsi:type="dcterms:W3CDTF">2006-08-16T00:00:00Z</dcterms:created>
  <dcterms:modified xsi:type="dcterms:W3CDTF">2020-07-11T03:25:26Z</dcterms:modified>
</cp:coreProperties>
</file>